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99e04a3402460a" /><Relationship Type="http://schemas.openxmlformats.org/officeDocument/2006/relationships/extended-properties" Target="/docProps/app.xml" Id="R774fddb3e91b4ea5" /><Relationship Type="http://schemas.openxmlformats.org/officeDocument/2006/relationships/officeDocument" Target="/ppt/presentation.xml" Id="Rf0e1a3853c264e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b1bbc057ff425c"/>
  </p:sldMasterIdLst>
  <p:notesMasterIdLst>
    <p:notesMasterId xmlns:r="http://schemas.openxmlformats.org/officeDocument/2006/relationships" r:id="Ref8ad6b257604f9c"/>
  </p:notesMasterIdLst>
  <p:sldIdLst>
    <p:sldId xmlns:r="http://schemas.openxmlformats.org/officeDocument/2006/relationships" id="256" r:id="R057f256d8e014214"/>
    <p:sldId xmlns:r="http://schemas.openxmlformats.org/officeDocument/2006/relationships" id="257" r:id="Rab0ab2f312764802"/>
    <p:sldId xmlns:r="http://schemas.openxmlformats.org/officeDocument/2006/relationships" id="258" r:id="R8b7f9f5a97c14995"/>
    <p:sldId xmlns:r="http://schemas.openxmlformats.org/officeDocument/2006/relationships" id="259" r:id="R5261c1cde8a745a0"/>
    <p:sldId xmlns:r="http://schemas.openxmlformats.org/officeDocument/2006/relationships" id="260" r:id="Re560f3073a4e4971"/>
    <p:sldId xmlns:r="http://schemas.openxmlformats.org/officeDocument/2006/relationships" id="261" r:id="R74cb60244e4b402d"/>
    <p:sldId xmlns:r="http://schemas.openxmlformats.org/officeDocument/2006/relationships" id="262" r:id="R87270e2403c54e87"/>
    <p:sldId xmlns:r="http://schemas.openxmlformats.org/officeDocument/2006/relationships" id="263" r:id="Re94e5bf703d64272"/>
    <p:sldId xmlns:r="http://schemas.openxmlformats.org/officeDocument/2006/relationships" id="264" r:id="Raf5d1bc9a0004851"/>
    <p:sldId xmlns:r="http://schemas.openxmlformats.org/officeDocument/2006/relationships" id="265" r:id="R1819420cb3ec47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36123c0f8743ab" /><Relationship Type="http://schemas.openxmlformats.org/officeDocument/2006/relationships/slideMaster" Target="/ppt/slideMasters/slideMaster1.xml" Id="Raeb1bbc057ff425c" /><Relationship Type="http://schemas.openxmlformats.org/officeDocument/2006/relationships/notesMaster" Target="/ppt/notesMasters/notesMaster1.xml" Id="Ref8ad6b257604f9c" /><Relationship Type="http://schemas.openxmlformats.org/officeDocument/2006/relationships/presProps" Target="/ppt/presProps.xml" Id="Rf95474b7d4f5442f" /><Relationship Type="http://schemas.openxmlformats.org/officeDocument/2006/relationships/viewProps" Target="/ppt/viewProps.xml" Id="Rea7de5ea43a34d57" /><Relationship Type="http://schemas.openxmlformats.org/officeDocument/2006/relationships/tableStyles" Target="/ppt/tableStyles.xml" Id="R71d368539e1c4a48" /><Relationship Type="http://schemas.openxmlformats.org/officeDocument/2006/relationships/slide" Target="/ppt/slides/slide1.xml" Id="R057f256d8e014214" /><Relationship Type="http://schemas.openxmlformats.org/officeDocument/2006/relationships/slide" Target="/ppt/slides/slide2.xml" Id="Rab0ab2f312764802" /><Relationship Type="http://schemas.openxmlformats.org/officeDocument/2006/relationships/slide" Target="/ppt/slides/slide3.xml" Id="R8b7f9f5a97c14995" /><Relationship Type="http://schemas.openxmlformats.org/officeDocument/2006/relationships/slide" Target="/ppt/slides/slide4.xml" Id="R5261c1cde8a745a0" /><Relationship Type="http://schemas.openxmlformats.org/officeDocument/2006/relationships/slide" Target="/ppt/slides/slide5.xml" Id="Re560f3073a4e4971" /><Relationship Type="http://schemas.openxmlformats.org/officeDocument/2006/relationships/slide" Target="/ppt/slides/slide6.xml" Id="R74cb60244e4b402d" /><Relationship Type="http://schemas.openxmlformats.org/officeDocument/2006/relationships/slide" Target="/ppt/slides/slide7.xml" Id="R87270e2403c54e87" /><Relationship Type="http://schemas.openxmlformats.org/officeDocument/2006/relationships/slide" Target="/ppt/slides/slide8.xml" Id="Re94e5bf703d64272" /><Relationship Type="http://schemas.openxmlformats.org/officeDocument/2006/relationships/slide" Target="/ppt/slides/slide9.xml" Id="Raf5d1bc9a0004851" /><Relationship Type="http://schemas.openxmlformats.org/officeDocument/2006/relationships/slide" Target="/ppt/slides/slide10.xml" Id="R1819420cb3ec47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3f74d273ea4f1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26d83927a34764" /><Relationship Type="http://schemas.openxmlformats.org/officeDocument/2006/relationships/notesMaster" Target="/ppt/notesMasters/notesMaster1.xml" Id="R2816748df8cc4fc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2daa064fa44f5b" /><Relationship Type="http://schemas.openxmlformats.org/officeDocument/2006/relationships/notesMaster" Target="/ppt/notesMasters/notesMaster1.xml" Id="Ra3526ea7f3144ec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81aae86289e4d55" /><Relationship Type="http://schemas.openxmlformats.org/officeDocument/2006/relationships/notesMaster" Target="/ppt/notesMasters/notesMaster1.xml" Id="R9262239eb2e54b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af4bc1c7e044f53" /><Relationship Type="http://schemas.openxmlformats.org/officeDocument/2006/relationships/notesMaster" Target="/ppt/notesMasters/notesMaster1.xml" Id="R6888cdf647c142e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e7c4bdd3c034155" /><Relationship Type="http://schemas.openxmlformats.org/officeDocument/2006/relationships/notesMaster" Target="/ppt/notesMasters/notesMaster1.xml" Id="Rcd56279d404a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40a33560c6a4615" /><Relationship Type="http://schemas.openxmlformats.org/officeDocument/2006/relationships/notesMaster" Target="/ppt/notesMasters/notesMaster1.xml" Id="R5a08038a549d450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083195c2694058" /><Relationship Type="http://schemas.openxmlformats.org/officeDocument/2006/relationships/notesMaster" Target="/ppt/notesMasters/notesMaster1.xml" Id="R6ab0dbcf82da4e6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f8bf86e1c9a4be3" /><Relationship Type="http://schemas.openxmlformats.org/officeDocument/2006/relationships/notesMaster" Target="/ppt/notesMasters/notesMaster1.xml" Id="R5cacf48bb9134ee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8838224ad484581" /><Relationship Type="http://schemas.openxmlformats.org/officeDocument/2006/relationships/notesMaster" Target="/ppt/notesMasters/notesMaster1.xml" Id="Ref4f0f48932b412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0e7d02242b74182" /><Relationship Type="http://schemas.openxmlformats.org/officeDocument/2006/relationships/notesMaster" Target="/ppt/notesMasters/notesMaster1.xml" Id="R6ab098e6cf3c41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dizendo: nosso objetivo foi provar comunicacao MQTT real, nao apenas desenhar um Pong. Mostrar os dois links publicos.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da esquerda para a direita. Destacar que todos se conectam ao mesmo broker pela internet e que o backend evita estados divergentes.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Nao decorar definicoes. Dizer por que cada nivel foi escolhido. Mostrar que wildcard reduz assinaturas e atende ao requisito.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Girar o potenciometro durante a fala. Mostrar a raquete e o log mudando. Apertar o botao e apontar o comando MQTT.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por que a fisica nao fica no frontend. Citar validacao e command_id como resposta para mensagens QoS 1 duplicadas.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o Vercel ao vivo. Apontar o wildcard visivel, os logs, graficos, status do ESP32 e botoes. Executar iniciar, pausar, retomar e sair.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Diferenciar os conceitos: LWT e publicado pelo broker quando ha queda; retained e a ultima mensagem armazenada e entregue a novos assinantes.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Mostrar que as evidencias nao sao apenas afirmacoes: abrir health, HiveMQ Web Client e pasta evidencias. Admitir claramente as capturas que ainda serao feitas.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esta tela para fechar a argumentacao. Nao prometer o banco de dados. Destacar que os pontos pendentes sao evidencias, nao funcionalidade.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Seguir exatamente a ordem. Dividir os passos entre os integrantes. Se algo falhar, usar as capturas da pasta evidencias.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3d3b313800e40c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adf4947c034ab8" /><Relationship Type="http://schemas.openxmlformats.org/officeDocument/2006/relationships/slideLayout" Target="/ppt/slideLayouts/slideLayout1.xml" Id="R6d152589d004457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d152589d004457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7a9ccd5f547dc" /><Relationship Type="http://schemas.openxmlformats.org/officeDocument/2006/relationships/notesSlide" Target="/ppt/notesSlides/notesSlide1.xml" Id="R3f894166c6f0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9b7d2fac804e08" /><Relationship Type="http://schemas.openxmlformats.org/officeDocument/2006/relationships/notesSlide" Target="/ppt/notesSlides/notesSlide2.xml" Id="Rdaabba7e1c91472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8f110cd3024fde" /><Relationship Type="http://schemas.openxmlformats.org/officeDocument/2006/relationships/notesSlide" Target="/ppt/notesSlides/notesSlide3.xml" Id="R7138d4c9efa245c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b0bd08cb014546" /><Relationship Type="http://schemas.openxmlformats.org/officeDocument/2006/relationships/notesSlide" Target="/ppt/notesSlides/notesSlide4.xml" Id="R0409ab7611434f5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56ae2e6cbb43af" /><Relationship Type="http://schemas.openxmlformats.org/officeDocument/2006/relationships/notesSlide" Target="/ppt/notesSlides/notesSlide5.xml" Id="Rd18c2bb186784e0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b5cf78eb64e68" /><Relationship Type="http://schemas.openxmlformats.org/officeDocument/2006/relationships/image" Target="/ppt/media/image.png" Id="Rca9a6af7b9db4584" /><Relationship Type="http://schemas.openxmlformats.org/officeDocument/2006/relationships/notesSlide" Target="/ppt/notesSlides/notesSlide6.xml" Id="Rac54a99a8bf945b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e8a32d4ef4dee" /><Relationship Type="http://schemas.openxmlformats.org/officeDocument/2006/relationships/notesSlide" Target="/ppt/notesSlides/notesSlide7.xml" Id="R1d6866641cc344a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50f36e230d4fdc" /><Relationship Type="http://schemas.openxmlformats.org/officeDocument/2006/relationships/image" Target="/ppt/media/image2.png" Id="Rb0f0d3e63dd34d4f" /><Relationship Type="http://schemas.openxmlformats.org/officeDocument/2006/relationships/image" Target="/ppt/media/image3.png" Id="R9e1e8648c274416f" /><Relationship Type="http://schemas.openxmlformats.org/officeDocument/2006/relationships/notesSlide" Target="/ppt/notesSlides/notesSlide8.xml" Id="R2e2b9e3f2c8041c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e59a172964d45" /><Relationship Type="http://schemas.openxmlformats.org/officeDocument/2006/relationships/notesSlide" Target="/ppt/notesSlides/notesSlide9.xml" Id="R2fa725fe8b82465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1ac66b9a494ee8" /><Relationship Type="http://schemas.openxmlformats.org/officeDocument/2006/relationships/notesSlide" Target="/ppt/notesSlides/notesSlide10.xml" Id="R20878066104e46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A5D26A-0DA2-403E-A4BD-8C5AD47F4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28650"/>
            <a:ext cx="495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420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PONG MQTT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D26D0-674E-4032-BF85-1E967359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6191250" cy="914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Multiplayer distribuido com ESP32 fisico, backend autoritativo e comunicacao MQTT real.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E6A64F-03A5-4255-878F-C15DC792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33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1BB5B-A34C-4276-A7E1-CB7DDDAFB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A demonstracao prova o caminho completo: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80CD56-A2A4-452B-8254-CDFB8EDE7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68580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controle fisico  →  HiveMQ Cloud  →  jogo publicado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3D9E2-27AE-41A0-BBC5-542FE75B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876300"/>
            <a:ext cx="3619500" cy="1047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1EFDD-68A9-4A62-B4CC-07ABD854D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009650"/>
            <a:ext cx="32766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3 clientes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D4DE4-9A5D-40BF-9E25-1E4E79315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66850"/>
            <a:ext cx="327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ESP32 + Backend + Frontend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A0AD0-D586-4F8A-A5A7-7AED70840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90750"/>
            <a:ext cx="3619500" cy="1047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0712C5-F458-4D57-AF9C-51117F2B4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24100"/>
            <a:ext cx="32766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QoS 0 / 1 / 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13B43C-6F02-4546-8293-D3AA8A353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81300"/>
            <a:ext cx="327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cada nivel com funcao justificavel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068724-8874-461C-BB9A-D053F9A6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05200"/>
            <a:ext cx="3619500" cy="1047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DEB4F-AFDE-44E7-916A-3380EF63A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32766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Deploy publico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139864-9E5D-43F4-A26F-14F1BF23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95750"/>
            <a:ext cx="32766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Render + Vercel + TLS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528CD4-65C0-4783-B274-67881EA6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5715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https://pong-front.vercel.app/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CC158-4859-42B8-B61E-9AB228BBF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61912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https://pong-mqtt-backend.onrender.com/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3F771F-C571-4FCA-9F62-63F609FDB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Tema 3 - Jogo Multiplayer Distribuido | completar nomes e RA antes da entrega</a:t>
            </a:r>
          </a:p>
        </p:txBody>
      </p:sp>
    </p:spTree>
    <p:extLst>
      <p:ext uri="{BB962C8B-B14F-4D97-AF65-F5344CB8AC3E}">
        <p14:creationId xmlns:p14="http://schemas.microsoft.com/office/powerpoint/2010/main" val="178028511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79C518-8CFE-4432-9C88-9CAEF473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ARQUITETURA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1534D-0700-4656-AEDA-AD63E7BD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Cada componente tem uma responsabilidade clara.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928A34-07B2-45B8-86D0-4890ABAA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0EA510-91A3-44A7-B225-52EF2E084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6C44A0-1FE7-4047-992F-55C7795FD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3812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E2A24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4B85E-37EB-4048-B18C-71B07B83A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00300"/>
            <a:ext cx="20383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ESP32 WROOM-32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A0B9FE-D706-4AAC-AF4D-1D187F279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90850"/>
            <a:ext cx="1866900" cy="1238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Potenciometro Botoes fisicos Status + LWT TLS 8883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28CE23-B30D-43C6-BA64-9A5154E92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1EB86-0D23-4EC8-9966-FFD02DE1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1952625"/>
            <a:ext cx="2857500" cy="2857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28575">
            <a:solidFill>
              <a:srgbClr val="60A5F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52B087-AD2F-48C9-BDA8-6F9D5741B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247900"/>
            <a:ext cx="24003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HiveMQ Cloud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A47123-1A2B-4C3B-9455-CEBB0A7A6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895600"/>
            <a:ext cx="2171700" cy="15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Broker central Topicos hierarquicos QoS + Wildcards Retained Messages Autenticacao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57CEC8-7480-4F90-AB3C-0165D021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0515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C2F181-04D6-4CBE-93D9-98B2E173F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809750"/>
            <a:ext cx="1809750" cy="3143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12112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8F59D5-D64C-42D1-ADFA-C9106A79F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95500"/>
            <a:ext cx="1466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Backend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024ED0-0835-4C26-9E17-255C67126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1352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FastAPI Render Fisica Colisoes Placar Validacao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1824D8-1D20-4289-89C3-73C00A2F8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809750"/>
            <a:ext cx="1809750" cy="3143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2152A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F04969-021D-4E7D-925A-EAAC9291A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095500"/>
            <a:ext cx="14668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Frontend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20A28-F069-495E-AB3E-1A603B517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67000"/>
            <a:ext cx="13525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React Vercel Pong Logs MQTT Chat Chart.js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B57DB-8D2A-405F-A324-91DBC52A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429250"/>
            <a:ext cx="99441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O backend e a unica fonte da verdade; o navegador apenas exibe e envia comandos.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986999-A430-43F2-BBE0-D030816C5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Arquivo editavel do diagrama: evidencias/arquitetura-pong.drawio</a:t>
            </a:r>
          </a:p>
        </p:txBody>
      </p:sp>
    </p:spTree>
    <p:extLst>
      <p:ext uri="{BB962C8B-B14F-4D97-AF65-F5344CB8AC3E}">
        <p14:creationId xmlns:p14="http://schemas.microsoft.com/office/powerpoint/2010/main" val="951220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8A07A4-0FE3-42A9-A3AB-7D79E9F7A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MQTT CORRETO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638B8C-2092-4862-ABE5-0AE1C118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QoS acompanha o custo de perder cada mensagem.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1A2F84-6326-4F8E-8C86-7BDCE949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36363C-55D4-4721-B1D1-56CDD468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CDF99F-E995-4637-885E-510B2BC3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866900"/>
            <a:ext cx="10953750" cy="990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E470F-3B07-43B2-BB28-B5003FB8C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9906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24E1B1-79B8-451E-8875-1B004F3F2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85975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QoS 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5DEE82-1D8D-41A2-AFEE-D63EBB14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01930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Movimento e estado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A25EEE-2A35-4B16-BA29-381A641A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2343150"/>
            <a:ext cx="533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pong/sala1/+/movimento  |  pong/sala1/estado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937EA6-6584-432C-9827-0EF6C267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33600"/>
            <a:ext cx="3714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Alta frequencia; perder um frame e imperceptivel.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59B2DA-9A3A-4A1E-AC7D-9E0BBAE0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05150"/>
            <a:ext cx="10953750" cy="990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0E2BF1-C80C-463F-AAAC-B58F5455B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9906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A45138-C55D-4D6A-BB57-7765FDD55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24225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QoS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365FC7-6251-4D7B-8C8F-8FAADC18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25755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Comandos, placar, status e chat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C9F3E5-D7F7-491B-B280-F45B5820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581400"/>
            <a:ext cx="533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pong/sala1/comandos  |  placar  |  status/+  |  chat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992D1-EE66-4AB7-AE93-5BF5B50F6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71850"/>
            <a:ext cx="3714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Precisam chegar; command_id impede comando duplicado.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80E0C1-2EB8-46CC-9BB7-A4167193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43400"/>
            <a:ext cx="10953750" cy="990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F0DC88-86C8-48D1-AC49-444A8CED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14850"/>
            <a:ext cx="990600" cy="285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9525">
            <a:solidFill>
              <a:srgbClr val="F472B6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480D37B-965A-48E4-9E83-A0317FB6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62475"/>
            <a:ext cx="838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QoS 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B24385-3338-4760-9554-2BF58D416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495800"/>
            <a:ext cx="37147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Estado critico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2727CC-ACFA-49B0-8612-AD97F2C57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19650"/>
            <a:ext cx="5334000" cy="238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pong/sala1/estado_critico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0E7E2A-882A-42BE-897A-9926D89E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10100"/>
            <a:ext cx="3714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Evento raro, importante e processado exatamente uma vez.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363308-9AB5-4FC4-8DF7-660D3DE5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95950"/>
            <a:ext cx="106680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Wildcard funcional: '+' substitui exatamente um nivel do topico.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DFB6BC-0383-433D-AEFE-4206BAB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Backend: pong/+/+/movimento | Frontend: pong/sala1/+/movimento</a:t>
            </a:r>
          </a:p>
        </p:txBody>
      </p:sp>
    </p:spTree>
    <p:extLst>
      <p:ext uri="{BB962C8B-B14F-4D97-AF65-F5344CB8AC3E}">
        <p14:creationId xmlns:p14="http://schemas.microsoft.com/office/powerpoint/2010/main" val="18833393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82A781-3EEE-441F-83D6-991457BE5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ESP32 FISICO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4A901A-B82B-40E8-90C6-04C957FD3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O embarcado participa da logica, nao e apenas decoracao.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17206-41E0-47D9-B7CB-D97D0216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F2A723-D6F5-4863-9838-5DA68C39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E1168E-00C8-47B0-9D8F-D7B130C5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14550"/>
            <a:ext cx="2095500" cy="1714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4D81E3-3103-4F10-B4DD-9361F251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24100"/>
            <a:ext cx="175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1. 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9CFD9F-125C-46D1-AC38-0D52AB4B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Potenciometro GPIO 34 / 35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351EF-99F2-4A87-9EE3-779E66AED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14550"/>
            <a:ext cx="2095500" cy="1714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952513-A8A3-40A2-AEB9-B7FB5880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175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2. Converter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330783-2871-4209-82C6-52B2BFFB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ADC 0-4095 → posicao 0-504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5101D1-6597-4C2A-BF2A-CAD3EA1D9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14550"/>
            <a:ext cx="2095500" cy="1714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7A8247-1565-4B22-8174-AD778671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24100"/>
            <a:ext cx="175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3. Publicar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28CEEC-A184-4AF3-A708-79B96731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7655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JSON { y, ts } QoS 0 a cada 50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B25652-7A47-4D96-8BE9-FDEF57C4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114550"/>
            <a:ext cx="2095500" cy="1714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6CEA2F-BD1F-4B6F-A940-5212B4F3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24100"/>
            <a:ext cx="17526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4. Jogar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21CBEC-3552-4F6E-AF0C-60A15BC7E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876550"/>
            <a:ext cx="17526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Backend atualiza raquete e colisao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F2B32-AD21-4F3E-8BAA-0F85D75D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781300"/>
            <a:ext cx="5238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C1D0AF-113D-427A-A88E-8EB4EEC63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781300"/>
            <a:ext cx="5238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0B021D-E529-41C5-A779-C8C6E29F5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81300"/>
            <a:ext cx="523875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9C0930-B508-4C5F-A6FE-AE20D5CC0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10050"/>
            <a:ext cx="10096500" cy="13525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D1726"/>
          </a:solidFill>
          <a:ln xmlns:a="http://schemas.openxmlformats.org/drawingml/2006/main" w="9525">
            <a:solidFill>
              <a:srgbClr val="33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3F44B9-0FDC-4922-9F3F-C86A943AA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66675" cy="666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BF24"/>
          </a:solidFill>
          <a:ln xmlns:a="http://schemas.openxmlformats.org/drawingml/2006/main" w="0">
            <a:solidFill>
              <a:srgbClr val="FBBF2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0B9325-F586-4A88-8E3D-13E8567DA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38650"/>
            <a:ext cx="887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Botoes publicam READY/RESET e recebem confirmacoes por comandos.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45CCAD-4A26-41DD-8E23-C9DA5B480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66675" cy="666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FB7185"/>
          </a:solidFill>
          <a:ln xmlns:a="http://schemas.openxmlformats.org/drawingml/2006/main" w="0">
            <a:solidFill>
              <a:srgbClr val="FB718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AF9EA-1A34-42BF-8741-FD3BFAA9B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57750"/>
            <a:ext cx="887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Status online e retained; queda abrupta aciona o LWT offline.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2D5F95-38D3-4EBD-9A02-B603DF1ED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53050"/>
            <a:ext cx="66675" cy="66675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34D399"/>
          </a:solidFill>
          <a:ln xmlns:a="http://schemas.openxmlformats.org/drawingml/2006/main" w="0">
            <a:solidFill>
              <a:srgbClr val="34D3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119729-4D9D-4CF4-A3FD-FFF58F503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76850"/>
            <a:ext cx="88773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Firmware gravado e ESP32 observado publicando movimentos reais.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90044E-AA3C-46E1-AD63-1CF9DFAD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Foto fisica final deve ser adicionada em evidencias/esp32-circuito-completo.jpg</a:t>
            </a:r>
          </a:p>
        </p:txBody>
      </p:sp>
    </p:spTree>
    <p:extLst>
      <p:ext uri="{BB962C8B-B14F-4D97-AF65-F5344CB8AC3E}">
        <p14:creationId xmlns:p14="http://schemas.microsoft.com/office/powerpoint/2010/main" val="16381425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5750B6-EC6D-41F6-A570-AFA08681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BACKEND AUTORITATIVO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E5A16B-645A-4974-9CD6-8678D39D5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Centralizar a fisica impede duas partidas diferentes.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F008FD-3A0B-40AF-84FB-2D0C8F1C8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D7EB2D-4B26-4562-80EB-3AE675CA3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6D5D0-C434-4D3F-895D-2AFBA33FA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2857500" cy="2857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6A244B-36CB-4DB8-A5B1-6DD0017BE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6695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ENTRADAS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56348-B233-4840-8AD6-2B11DE7C7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2209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Movimentos ESP32 Comandos Web/ESP32 Chat MQTT REST / Swagger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EB19D2-7EE7-4F3B-94C7-B91505A92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4325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8EFA93-09A3-4D65-9D9B-41339F64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3333750" cy="3238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B2110"/>
          </a:solidFill>
          <a:ln xmlns:a="http://schemas.openxmlformats.org/drawingml/2006/main" w="28575">
            <a:solidFill>
              <a:srgbClr val="FBBF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A2759-C811-4D38-B658-8FE13BE9E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133600"/>
            <a:ext cx="28003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FASTAPI + PAHO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CC880D-9FB8-4329-A712-CEA3F6BE5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2647950" cy="1809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Valida payloads e jogadores Controla fases da partida Calcula bola e colisoes Atualiza placar Deduplica command_id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07540D-0C65-4702-8B16-A4B97C5AF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4325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B6DBE16-2ECF-4C35-9C6B-1367FF10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00250"/>
            <a:ext cx="2857500" cy="2857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C1529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C66542-5A26-414F-95C0-BC50E00BA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266950"/>
            <a:ext cx="24003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SAIDAS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EC12EB7-0D36-4F5C-932C-E76AAC4F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857500"/>
            <a:ext cx="2209800" cy="142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Estado ~30 FPS Placar confiavel Evento critico retained Status backend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C6007-F6EC-4659-B53C-959125188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67350"/>
            <a:ext cx="10210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Tratativas rejeitam comandos aleatorios, transicoes invalidas e payloads malformados.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F274E-570E-42DD-8763-F67B19DC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Health publico: /health retorna status ok e mqtt_connected true</a:t>
            </a:r>
          </a:p>
        </p:txBody>
      </p:sp>
    </p:spTree>
    <p:extLst>
      <p:ext uri="{BB962C8B-B14F-4D97-AF65-F5344CB8AC3E}">
        <p14:creationId xmlns:p14="http://schemas.microsoft.com/office/powerpoint/2010/main" val="7339039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6624E68-8C00-4137-BF30-F6C4D6EC8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INTERFACE WEB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423EF-818A-4B4B-A050-4B680F6D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A mesma tela joga, observa MQTT e publica comandos.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BF3FEC-BADF-4A5D-B2DF-CC85B6D1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C4D44C-AE53-4D13-B29A-C64F3E37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CA66A01-0AAA-4DC9-B9DD-89DCB638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7810500" cy="4305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9a6af7b9db4584"/>
          <a:srcRect xmlns:a="http://schemas.openxmlformats.org/drawingml/2006/main" l="0" t="17463" r="0" b="174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771650"/>
            <a:ext cx="7658100" cy="4152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D10648-A6E5-4221-98D0-DD0FC3E6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847850"/>
            <a:ext cx="2952750" cy="838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5E527-700A-49D3-A9F1-F4979DF94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9812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Pong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D84DFA-D6FE-4CDD-9F78-0406D981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57425"/>
            <a:ext cx="260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estado em tempo real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C4B0CE-749A-4246-8F4C-CEDA73A9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2952750" cy="838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D56A23-AA0B-4822-9C29-978635D45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9718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Comandos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CA118F-73C2-4D74-8B2F-9CCC50E0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248025"/>
            <a:ext cx="260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iniciar, pausar, retomar e sair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3E1C70-9C04-493D-986B-29FB60F0E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829050"/>
            <a:ext cx="2952750" cy="838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B78D53-6623-4894-AAEE-CBBA94B89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624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Observabilidade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F45B1-B373-4355-9903-0CCDAE20E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238625"/>
            <a:ext cx="260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logs MQTT, status e graficos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099A030-F188-4167-BA40-AE8A60505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819650"/>
            <a:ext cx="2952750" cy="8382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472B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C51FC4-963C-434C-8F54-FE92CF1F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953000"/>
            <a:ext cx="2609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Interacao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E0926-1948-4C9E-BB26-53080AD3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5229225"/>
            <a:ext cx="26098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chat e controle fisico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9BEF45-6A21-4B5F-9C5A-E8C67A46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Aplicacao: https://pong-front.vercel.app/</a:t>
            </a:r>
          </a:p>
        </p:txBody>
      </p:sp>
    </p:spTree>
    <p:extLst>
      <p:ext uri="{BB962C8B-B14F-4D97-AF65-F5344CB8AC3E}">
        <p14:creationId xmlns:p14="http://schemas.microsoft.com/office/powerpoint/2010/main" val="63820975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846BC4-BF5D-4271-9BCA-1E8986E7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RECURSOS AVANCADOS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1D772-5174-4AF4-9021-6B95678C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LWT e retained tornam o status confiavel mesmo sem publicacoes novas.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10C5FD-1968-4E0A-8417-A0420232E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20AC82-811C-4DBE-A9FF-48AE2EB07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CBE6F8-1D31-4239-BA72-52AF5685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847850"/>
            <a:ext cx="476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t>LWT: queda inesperada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157765-9C9A-4227-A8F9-001A2139F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62200"/>
            <a:ext cx="2857500" cy="1257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098F1-022A-489A-AA79-8538C44D0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7175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647FF4-D908-4151-93C0-59B234C6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52700"/>
            <a:ext cx="1924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ESP32 conecta e registra testamento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05017A-880F-44B7-89DB-759D29F1B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2857500" cy="1257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1F675D-87D2-49F9-8D0E-E9AE4967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7175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4D23D-4F6C-40A1-9A20-567E736BB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52700"/>
            <a:ext cx="1924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ESP32 perde energia sem DISCONNECT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F2E4DD-4372-4FFB-A354-DD3A71D1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362200"/>
            <a:ext cx="2857500" cy="12573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579D31-61D4-421C-B6C5-71F79CBB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419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1CB5C0-C6C0-4EF3-A2A9-08B654BBE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552700"/>
            <a:ext cx="19240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HiveMQ publica offline automaticamente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F059F-0E1A-4561-B921-F63DA9009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78130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F041AE-A633-4713-BE62-C36C4FB74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81300"/>
            <a:ext cx="762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A324D-39C8-4A7D-AB54-DE9D2246F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171950"/>
            <a:ext cx="8572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Retained: novo cliente recebe o ultimo status imediatamente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F96CB4-0C21-44E4-A7E2-6279D29CC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10572750" cy="952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0233B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BD057-40DE-4C55-9670-38D44CF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53000"/>
            <a:ext cx="100774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status/esp32 = online  →  HiveMQ armazena  →  segunda aba recebe online ao assinar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54FA69-B1EE-4CD3-B53E-3E55E7B6F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Demonstracao: desligar o ESP32 para LWT; abrir nova aba para retained</a:t>
            </a:r>
          </a:p>
        </p:txBody>
      </p:sp>
    </p:spTree>
    <p:extLst>
      <p:ext uri="{BB962C8B-B14F-4D97-AF65-F5344CB8AC3E}">
        <p14:creationId xmlns:p14="http://schemas.microsoft.com/office/powerpoint/2010/main" val="9907638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FC5037-CF80-469E-8134-02DED5E2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EVIDENCIAS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282364-A275-43F5-BD57-078BF848F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Deploy e broker ja deixam rastros verificaveis.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562A7-12AF-42E4-8FE5-ED8662D6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6069B-27CB-44F3-89E1-4B940C60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16934-AA7C-4590-A452-97E05E178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71650"/>
            <a:ext cx="5238750" cy="1809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4E5518-CDD0-4E8D-955D-9D809CBB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00250"/>
            <a:ext cx="4857750" cy="952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07140F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5B99B6-0B20-479F-9465-9E8B93D39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52650"/>
            <a:ext cx="436245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{ "status": "ok", "mqtt_connected": true }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DB833E-A8F9-4AA7-87E3-7CA7EF20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8958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Render: status ok + mqtt_connected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0D48DB-DA86-4DF1-A02F-3FC15014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771650"/>
            <a:ext cx="5524500" cy="18097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60A5FA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f0d3e63dd34d4f"/>
          <a:stretch xmlns:a="http://schemas.openxmlformats.org/drawingml/2006/main"/>
        </p:blipFill>
        <p:spPr>
          <a:xfrm xmlns:a="http://schemas.openxmlformats.org/drawingml/2006/main">
            <a:off x="7398355" y="1885950"/>
            <a:ext cx="2767390" cy="12192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1DB6A6-7371-488E-90EB-DD014C89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19450"/>
            <a:ext cx="51816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HiveMQ: status de backend e ESP32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2A93C-3ACB-45FE-83F3-BA2B566AF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29050"/>
            <a:ext cx="7239000" cy="2095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e8648c274416f"/>
          <a:srcRect xmlns:a="http://schemas.openxmlformats.org/drawingml/2006/main" l="0" t="38203" r="0" b="3820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3943350"/>
            <a:ext cx="7010400" cy="1562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1BDCF-45F8-4F4F-B875-86797389F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68961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Web Client: topicos, wildcards e mensagens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20D3D7-E37E-4D96-8778-A6A4B8FDF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29050"/>
            <a:ext cx="3524250" cy="20955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251E0D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9F725D-B29D-434A-BF81-F8546530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076700"/>
            <a:ext cx="310515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FALTAM AS FOTOS FINAIS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9E3846-CB3A-4C73-92AB-1FB9ADE87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591050"/>
            <a:ext cx="285750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• circuito ESP32 • MQTT Explorer • LWT offline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799C1F-7622-402C-B318-CD68AF91B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Pasta organizada: evidencias/</a:t>
            </a:r>
          </a:p>
        </p:txBody>
      </p:sp>
    </p:spTree>
    <p:extLst>
      <p:ext uri="{BB962C8B-B14F-4D97-AF65-F5344CB8AC3E}">
        <p14:creationId xmlns:p14="http://schemas.microsoft.com/office/powerpoint/2010/main" val="19550220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14281C-6D86-401D-B8EC-5911AC554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RUBRICA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50CBB8-C039-461B-B2D8-C75F5E078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Os pontos obrigatorios estao implementados; a prioridade agora e provar.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8B40EB-C2D3-49C6-82F9-EF135E3DD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A177C3-4E89-4355-BBB8-C7762687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6FAB15-AE4E-4771-AA56-34A579F0F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22D3E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7EB3DE-B07D-4C4C-A7FF-12E5407B3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240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MQTT correto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89ACFA-6DB6-4691-810C-B1E12BE2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240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2,0 / 2,0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86476B-E3CF-4D8A-B96D-1948F2B39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2405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topicos + wildcard + QoS + LWT + retained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4FD021-3623-46F9-BFF9-5FD7AB50D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9555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B909B-F0C3-49E8-AC2F-CBB9D6B2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ESP32 integrado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137DDF-1AE6-4AE3-97FD-202E37AA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66700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1,5 / 1,5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D9DD61-6F13-4736-9C26-373C4D09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670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publica movimento e assina comandos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F23174-0745-452D-97BB-48CC2457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472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C66CBF-C24B-46C6-B561-AEB1F9B24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099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Interface web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9E031-453A-411C-B4D8-98E31F90B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4099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2,0 / 2,0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D1491D-F9EC-4B8A-94CB-5A278A58C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0995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tempo real + comandos + jogo + logs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5CF3C9-FD52-464C-BEE4-A5ABE1DA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FBBF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A32ED9-8520-4C05-B4AF-6892B295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5290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Broker + testes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03A114-B9F6-4866-B2FE-C0233597D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15290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em fechamento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9786B3-6F7E-473A-B7E9-3C5A5F5A2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1529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falta apenas a captura do MQTT Explorer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6C5E48-B0A6-42E2-9D1D-A517E6622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60A5F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C90A8E-CCF7-444B-AA61-B8EB18452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9585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Deploy + repositorio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CF1718-83A2-4F6F-9AC2-80F7DCC19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9585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60A5FA"/>
                </a:solidFill>
                <a:latin typeface="Arial"/>
                <a:ea typeface="Arial"/>
                <a:cs typeface="Arial"/>
              </a:defRPr>
            </a:pPr>
            <a:r>
              <a:t>2,0 / 2,0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BF2CB5-256A-4D4B-9439-8B96840D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89585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links publicos + README + diagrama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3477EA0-4AEC-4539-813F-1FFAA7237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53750" cy="6286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>
            <a:solidFill>
              <a:srgbClr val="34D39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879D3-D6F4-4E2A-9731-47682443D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38800"/>
            <a:ext cx="2667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Extra autenticacao/TLS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DB3470-0F13-4C31-BEB4-CF90766AE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5638800"/>
            <a:ext cx="18097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+0,5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CDE284-2703-4E7C-AA61-50BE55D5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5638800"/>
            <a:ext cx="55245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usuarios separados + 8883/8884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EAAAC54-F2B7-446E-812D-D273EFCB2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Banco de dados e extra opcional; nao foi implementado.</a:t>
            </a:r>
          </a:p>
        </p:txBody>
      </p:sp>
    </p:spTree>
    <p:extLst>
      <p:ext uri="{BB962C8B-B14F-4D97-AF65-F5344CB8AC3E}">
        <p14:creationId xmlns:p14="http://schemas.microsoft.com/office/powerpoint/2010/main" val="2158739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5081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CD97A8-EE5E-4002-8D7D-CBC53477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2900"/>
            <a:ext cx="2857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DEMONSTRACAO AO VIVO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74DDAE-C488-4558-BEE8-93ED23D75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6750"/>
            <a:ext cx="10668000" cy="838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Uma sequencia curta prova o sistema inteiro sem improviso.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EC6E3-55B2-4392-B870-1496483B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811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4155"/>
          </a:solidFill>
          <a:ln xmlns:a="http://schemas.openxmlformats.org/drawingml/2006/main" w="0">
            <a:solidFill>
              <a:srgbClr val="33415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69E189-4E63-4ABE-96B8-8D0B685FE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00800"/>
            <a:ext cx="438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AA3A5-4FCD-4CB2-9186-E07F5755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38350"/>
            <a:ext cx="19621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34D399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435012-9042-437C-822C-2ED5AC6AF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288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34D399"/>
                </a:solidFill>
                <a:latin typeface="Arial"/>
                <a:ea typeface="Arial"/>
                <a:cs typeface="Arial"/>
              </a:defRPr>
            </a:pPr>
            <a: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3BFEB-D598-45CF-B8A9-32011B4C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765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Abrir /health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8C4F0D-1CE2-4F7D-AA96-DF50A6D3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mqtt_connected true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19CB20-0FD1-40CE-B69D-3312C2E9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38350"/>
            <a:ext cx="19621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22D3E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AF4F8-F344-4605-BBE3-45CA595E9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288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62ABBE-791B-4B81-9653-A4A0ADE4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Abrir Vercel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D5F23C-5842-4BBB-A290-EE2AFDE56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62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HiveMQ + ESP32 online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50941B-D895-4B9F-A692-5B641DE6E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038350"/>
            <a:ext cx="19621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472B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018914-240B-4793-B554-03A6B79F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2288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472B6"/>
                </a:solidFill>
                <a:latin typeface="Arial"/>
                <a:ea typeface="Arial"/>
                <a:cs typeface="Arial"/>
              </a:defRPr>
            </a:pPr>
            <a: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5A565E-8E44-48D9-B43A-ADF00F634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765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Girar potenciometro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189E0C-F568-429C-87DA-83E4BBB0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62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raquete + log + grafico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6B93D-D0F7-41AD-8C7F-79225F352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38350"/>
            <a:ext cx="19621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BF2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E60E9D9-7F72-4CA8-B82C-6BAF87D51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2288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BBF24"/>
                </a:solidFill>
                <a:latin typeface="Arial"/>
                <a:ea typeface="Arial"/>
                <a:cs typeface="Arial"/>
              </a:defRPr>
            </a:pPr>
            <a: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5070B-A3B2-4722-9883-48FF424D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8765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Iniciar / pausar / sair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B5FB04-DA81-45B6-B8B4-07438AD7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2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comandos e estado critico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13D3BA-67A5-4FDC-9EB8-45519025F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038350"/>
            <a:ext cx="1962150" cy="238125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19050">
            <a:solidFill>
              <a:srgbClr val="FB718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BE8256-0323-402B-BE6D-D6E96723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228850"/>
            <a:ext cx="16192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B7185"/>
                </a:solidFill>
                <a:latin typeface="Arial"/>
                <a:ea typeface="Arial"/>
                <a:cs typeface="Arial"/>
              </a:defRPr>
            </a:pPr>
            <a:r>
              <a:t>05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95A31D-BC0B-4443-B1F2-7026511C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876550"/>
            <a:ext cx="161925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Desligar ESP32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2880A1-CB17-4898-BE0C-63A7B5516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3562350"/>
            <a:ext cx="161925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LWT publica offline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EDAC56-72BA-425A-85BC-A052DBB4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14900"/>
            <a:ext cx="105537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2D3EE"/>
                </a:solidFill>
                <a:latin typeface="Arial"/>
                <a:ea typeface="Arial"/>
                <a:cs typeface="Arial"/>
              </a:defRPr>
            </a:pPr>
            <a:r>
              <a:t>Perguntas provaveis: por que QoS 0? por que backend autoritativo? como LWT difere de retained?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FE39DA-3142-4CCB-9201-8530AC249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24500"/>
            <a:ext cx="979170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8FAFC"/>
                </a:solidFill>
                <a:latin typeface="Arial"/>
                <a:ea typeface="Arial"/>
                <a:cs typeface="Arial"/>
              </a:defRPr>
            </a:pPr>
            <a:r>
              <a:t>Resposta-chave: cada decisao reduz latencia, evita divergencia ou melhora confiabilidade.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A8568D-8F0B-412E-A24D-5B91AB0B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00800"/>
            <a:ext cx="9906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94A3B8"/>
                </a:solidFill>
                <a:latin typeface="Arial"/>
                <a:ea typeface="Arial"/>
                <a:cs typeface="Arial"/>
              </a:defRPr>
            </a:pPr>
            <a:r>
              <a:t>Antes de apresentar: preencher integrantes, adicionar fotos fisicas e captura do MQTT Explorer.</a:t>
            </a:r>
          </a:p>
        </p:txBody>
      </p:sp>
    </p:spTree>
    <p:extLst>
      <p:ext uri="{BB962C8B-B14F-4D97-AF65-F5344CB8AC3E}">
        <p14:creationId xmlns:p14="http://schemas.microsoft.com/office/powerpoint/2010/main" val="5912163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2026-06-14T23:44:22.5970000Z</dcterms:created>
  <dcterms:modified xsi:type="dcterms:W3CDTF">2026-06-14T23:44:22.5970000Z</dcterms:modified>
</coreProperties>
</file>