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a3b8d6342941b3" /><Relationship Type="http://schemas.openxmlformats.org/officeDocument/2006/relationships/extended-properties" Target="/docProps/app.xml" Id="Rb2a99172819f4ec4" /><Relationship Type="http://schemas.openxmlformats.org/officeDocument/2006/relationships/officeDocument" Target="/ppt/presentation.xml" Id="R2bfaf8ffabaa4d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3ba3eced4b4cb7"/>
  </p:sldMasterIdLst>
  <p:notesMasterIdLst>
    <p:notesMasterId xmlns:r="http://schemas.openxmlformats.org/officeDocument/2006/relationships" r:id="R04012e6980e94ff8"/>
  </p:notesMasterIdLst>
  <p:sldIdLst>
    <p:sldId xmlns:r="http://schemas.openxmlformats.org/officeDocument/2006/relationships" id="256" r:id="Rb5f26ced75b1492e"/>
    <p:sldId xmlns:r="http://schemas.openxmlformats.org/officeDocument/2006/relationships" id="257" r:id="R03a8f630c4eb4129"/>
    <p:sldId xmlns:r="http://schemas.openxmlformats.org/officeDocument/2006/relationships" id="258" r:id="Re8de490e16e34f25"/>
    <p:sldId xmlns:r="http://schemas.openxmlformats.org/officeDocument/2006/relationships" id="259" r:id="R8d6690e266b34d2d"/>
    <p:sldId xmlns:r="http://schemas.openxmlformats.org/officeDocument/2006/relationships" id="260" r:id="Rddb5632912d14224"/>
    <p:sldId xmlns:r="http://schemas.openxmlformats.org/officeDocument/2006/relationships" id="261" r:id="R8b4a12ef23fe485c"/>
    <p:sldId xmlns:r="http://schemas.openxmlformats.org/officeDocument/2006/relationships" id="262" r:id="Ra1991af267994d9d"/>
    <p:sldId xmlns:r="http://schemas.openxmlformats.org/officeDocument/2006/relationships" id="263" r:id="R2cbcedb741154674"/>
    <p:sldId xmlns:r="http://schemas.openxmlformats.org/officeDocument/2006/relationships" id="264" r:id="R0d76be3aa8144d7c"/>
    <p:sldId xmlns:r="http://schemas.openxmlformats.org/officeDocument/2006/relationships" id="265" r:id="R6a346b78385c48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6dfb14ca664ae3" /><Relationship Type="http://schemas.openxmlformats.org/officeDocument/2006/relationships/slideMaster" Target="/ppt/slideMasters/slideMaster1.xml" Id="R543ba3eced4b4cb7" /><Relationship Type="http://schemas.openxmlformats.org/officeDocument/2006/relationships/notesMaster" Target="/ppt/notesMasters/notesMaster1.xml" Id="R04012e6980e94ff8" /><Relationship Type="http://schemas.openxmlformats.org/officeDocument/2006/relationships/presProps" Target="/ppt/presProps.xml" Id="R901500dca690414f" /><Relationship Type="http://schemas.openxmlformats.org/officeDocument/2006/relationships/viewProps" Target="/ppt/viewProps.xml" Id="R03a01c35fe9e4a0e" /><Relationship Type="http://schemas.openxmlformats.org/officeDocument/2006/relationships/tableStyles" Target="/ppt/tableStyles.xml" Id="R3e12e45898f641ed" /><Relationship Type="http://schemas.openxmlformats.org/officeDocument/2006/relationships/slide" Target="/ppt/slides/slide1.xml" Id="Rb5f26ced75b1492e" /><Relationship Type="http://schemas.openxmlformats.org/officeDocument/2006/relationships/slide" Target="/ppt/slides/slide2.xml" Id="R03a8f630c4eb4129" /><Relationship Type="http://schemas.openxmlformats.org/officeDocument/2006/relationships/slide" Target="/ppt/slides/slide3.xml" Id="Re8de490e16e34f25" /><Relationship Type="http://schemas.openxmlformats.org/officeDocument/2006/relationships/slide" Target="/ppt/slides/slide4.xml" Id="R8d6690e266b34d2d" /><Relationship Type="http://schemas.openxmlformats.org/officeDocument/2006/relationships/slide" Target="/ppt/slides/slide5.xml" Id="Rddb5632912d14224" /><Relationship Type="http://schemas.openxmlformats.org/officeDocument/2006/relationships/slide" Target="/ppt/slides/slide6.xml" Id="R8b4a12ef23fe485c" /><Relationship Type="http://schemas.openxmlformats.org/officeDocument/2006/relationships/slide" Target="/ppt/slides/slide7.xml" Id="Ra1991af267994d9d" /><Relationship Type="http://schemas.openxmlformats.org/officeDocument/2006/relationships/slide" Target="/ppt/slides/slide8.xml" Id="R2cbcedb741154674" /><Relationship Type="http://schemas.openxmlformats.org/officeDocument/2006/relationships/slide" Target="/ppt/slides/slide9.xml" Id="R0d76be3aa8144d7c" /><Relationship Type="http://schemas.openxmlformats.org/officeDocument/2006/relationships/slide" Target="/ppt/slides/slide10.xml" Id="R6a346b78385c48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9290c4700f44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06eaa0672d4a7f" /><Relationship Type="http://schemas.openxmlformats.org/officeDocument/2006/relationships/notesMaster" Target="/ppt/notesMasters/notesMaster1.xml" Id="R4e2a7332cbb949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7acda6b2624e72" /><Relationship Type="http://schemas.openxmlformats.org/officeDocument/2006/relationships/notesMaster" Target="/ppt/notesMasters/notesMaster1.xml" Id="Rac08c355ed3b43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f38dfb36b04526" /><Relationship Type="http://schemas.openxmlformats.org/officeDocument/2006/relationships/notesMaster" Target="/ppt/notesMasters/notesMaster1.xml" Id="R2c92894fefbf4c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523455d2374cec" /><Relationship Type="http://schemas.openxmlformats.org/officeDocument/2006/relationships/notesMaster" Target="/ppt/notesMasters/notesMaster1.xml" Id="Rab68165c225649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7323caaad242d4" /><Relationship Type="http://schemas.openxmlformats.org/officeDocument/2006/relationships/notesMaster" Target="/ppt/notesMasters/notesMaster1.xml" Id="R4fac5901925345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a520e1a0f4ce0" /><Relationship Type="http://schemas.openxmlformats.org/officeDocument/2006/relationships/notesMaster" Target="/ppt/notesMasters/notesMaster1.xml" Id="Rf6761f9812af4c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9a9730aa764a3d" /><Relationship Type="http://schemas.openxmlformats.org/officeDocument/2006/relationships/notesMaster" Target="/ppt/notesMasters/notesMaster1.xml" Id="R1c8490bbc8864b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7bfdae509c4481" /><Relationship Type="http://schemas.openxmlformats.org/officeDocument/2006/relationships/notesMaster" Target="/ppt/notesMasters/notesMaster1.xml" Id="R47596d6c72c646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47ca42a06d4ca2" /><Relationship Type="http://schemas.openxmlformats.org/officeDocument/2006/relationships/notesMaster" Target="/ppt/notesMasters/notesMaster1.xml" Id="R81d94c1684024e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25ea11f4f6407f" /><Relationship Type="http://schemas.openxmlformats.org/officeDocument/2006/relationships/notesMaster" Target="/ppt/notesMasters/notesMaster1.xml" Id="R399172d1754f40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dizendo: nosso objetivo foi provar comunicacao MQTT real, nao apenas desenhar um Pong. Mostrar os dois links publicos.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da esquerda para a direita. Destacar que todos se conectam ao mesmo broker pela internet e que o backend evita estados divergentes.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Nao decorar definicoes. Dizer por que cada nivel foi escolhido. Mostrar que wildcard reduz assinaturas e atende ao requisito.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Girar o potenciometro durante a fala. Mostrar a raquete e o log mudando. Apertar o botao e apontar o comando MQTT.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que a fisica nao fica no frontend. Citar validacao e command_id como resposta para mensagens QoS 1 duplicadas.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o Vercel ao vivo. Apontar o wildcard visivel, os logs, graficos, status do ESP32 e botoes. Executar iniciar, pausar, retomar e sair.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os conceitos: LWT e publicado pelo broker quando ha queda; retained e a ultima mensagem armazenada e entregue a novos assinantes.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as evidencias nao sao apenas afirmacoes: abrir health, HiveMQ Web Client e pasta evidencias. Admitir claramente as capturas que ainda serao feitas.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tela para fechar a argumentacao. Nao prometer o banco de dados. Destacar que os pontos pendentes sao evidencias, nao funcionalidade.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Seguir exatamente a ordem. Dividir os passos entre os integrantes. Se algo falhar, usar as capturas da pasta evidencias.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f702b06f74e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ab754ec9cd4388" /><Relationship Type="http://schemas.openxmlformats.org/officeDocument/2006/relationships/slideLayout" Target="/ppt/slideLayouts/slideLayout1.xml" Id="R1f46896e08814f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46896e08814f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6cd9638e34713" /><Relationship Type="http://schemas.openxmlformats.org/officeDocument/2006/relationships/notesSlide" Target="/ppt/notesSlides/notesSlide1.xml" Id="R28766defaa0841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747be302e4583" /><Relationship Type="http://schemas.openxmlformats.org/officeDocument/2006/relationships/notesSlide" Target="/ppt/notesSlides/notesSlide2.xml" Id="R209c0e4a0a3e49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3977ce79540a5" /><Relationship Type="http://schemas.openxmlformats.org/officeDocument/2006/relationships/notesSlide" Target="/ppt/notesSlides/notesSlide3.xml" Id="R8a956784fac443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fe4c4357049d2" /><Relationship Type="http://schemas.openxmlformats.org/officeDocument/2006/relationships/notesSlide" Target="/ppt/notesSlides/notesSlide4.xml" Id="Rcc6e491e18a949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04392de9740de" /><Relationship Type="http://schemas.openxmlformats.org/officeDocument/2006/relationships/notesSlide" Target="/ppt/notesSlides/notesSlide5.xml" Id="Re6f0a923f9234a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67a739c9c4dd1" /><Relationship Type="http://schemas.openxmlformats.org/officeDocument/2006/relationships/image" Target="/ppt/media/image.png" Id="Rbb5d4049db68447c" /><Relationship Type="http://schemas.openxmlformats.org/officeDocument/2006/relationships/notesSlide" Target="/ppt/notesSlides/notesSlide6.xml" Id="R17f8e3dc8b4043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e7ab183ce4052" /><Relationship Type="http://schemas.openxmlformats.org/officeDocument/2006/relationships/notesSlide" Target="/ppt/notesSlides/notesSlide7.xml" Id="R2467e1095a1440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116151e5440bf" /><Relationship Type="http://schemas.openxmlformats.org/officeDocument/2006/relationships/image" Target="/ppt/media/image2.png" Id="Rf074553903974e1e" /><Relationship Type="http://schemas.openxmlformats.org/officeDocument/2006/relationships/image" Target="/ppt/media/image3.png" Id="Rca027be4fd5c485e" /><Relationship Type="http://schemas.openxmlformats.org/officeDocument/2006/relationships/notesSlide" Target="/ppt/notesSlides/notesSlide8.xml" Id="Rd2f09c3d43994f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7a0479fc4445d" /><Relationship Type="http://schemas.openxmlformats.org/officeDocument/2006/relationships/notesSlide" Target="/ppt/notesSlides/notesSlide9.xml" Id="R44701e8576df47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6e2d9a10049fe" /><Relationship Type="http://schemas.openxmlformats.org/officeDocument/2006/relationships/notesSlide" Target="/ppt/notesSlides/notesSlide10.xml" Id="Re5a5566dbc9043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A5D26A-0DA2-403E-A4BD-8C5AD47F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495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PONG MQTT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D26D0-674E-4032-BF85-1E967359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Multiplayer distribuido com ESP32 fisico, backend autoritativo e comunicacao MQTT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6A64F-03A5-4255-878F-C15DC792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1BB5B-A34C-4276-A7E1-CB7DDDAF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A demonstracao prova o caminho completo: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0CD56-A2A4-452B-8254-CDFB8EDE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85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controle fisico  →  HiveMQ Cloud  →  jogo publicado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3D9E2-27AE-41A0-BBC5-542FE75B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76300"/>
            <a:ext cx="3619500" cy="1047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1EFDD-68A9-4A62-B4CC-07ABD854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009650"/>
            <a:ext cx="32766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3 clientes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D4DE4-9A5D-40BF-9E25-1E4E7931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66850"/>
            <a:ext cx="3276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ESP32 + Backend + 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A0AD0-D586-4F8A-A5A7-7AED7084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619500" cy="1047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712C5-F458-4D57-AF9C-51117F2B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24100"/>
            <a:ext cx="32766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QoS 0 / 1 /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3B43C-6F02-4546-8293-D3AA8A35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81300"/>
            <a:ext cx="3276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cada nivel com funcao justificavel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68724-8874-461C-BB9A-D053F9A6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3619500" cy="1047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472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DEB4F-AFDE-44E7-916A-3380EF63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32766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Deploy publico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39864-9E5D-43F4-A26F-14F1BF23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95750"/>
            <a:ext cx="3276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Render + Vercel + TLS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28CD4-65C0-4783-B274-67881EA6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71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https://pong-front.vercel.app/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CC158-4859-42B8-B61E-9AB228BB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https://pong-mqtt-backend.onrender.com/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F771F-C571-4FCA-9F62-63F609FD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Tema 3 - Jogo Multiplayer Distribuido | completar nomes e RA antes da entrega</a:t>
            </a:r>
          </a:p>
        </p:txBody>
      </p:sp>
    </p:spTree>
    <p:extLst>
      <p:ext uri="{BB962C8B-B14F-4D97-AF65-F5344CB8AC3E}">
        <p14:creationId xmlns:p14="http://schemas.microsoft.com/office/powerpoint/2010/main" val="17802851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79C518-8CFE-4432-9C88-9CAEF473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1534D-0700-4656-AEDA-AD63E7BD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Cada componente tem uma responsabilidade clara.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28A34-07B2-45B8-86D0-4890ABAA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EA510-91A3-44A7-B225-52EF2E08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C44A0-1FE7-4047-992F-55C7795F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381250" cy="2381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E2A24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4B85E-37EB-4048-B18C-71B07B83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038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ESP32 WROOM-32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0B9FE-D706-4AAC-AF4D-1D187F27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8669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Potenciometro Botoes fisicos Status + LWT TLS 8883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8CE23-B30D-43C6-BA64-9A5154E9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1EB86-0D23-4EC8-9966-FFD02DE1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52625"/>
            <a:ext cx="2857500" cy="2857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28575">
            <a:solidFill>
              <a:srgbClr val="60A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2B087-AD2F-48C9-BDA8-6F9D5741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2400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t>HiveMQ Cloud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47123-1A2B-4C3B-9455-CEBB0A7A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95600"/>
            <a:ext cx="21717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Broker central Topicos hierarquicos QoS + Wildcards Retained Messages Autenticacao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7CEC8-7480-4F90-AB3C-0165D021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2F181-04D6-4CBE-93D9-98B2E173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1809750" cy="3143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12112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F59D5-D64C-42D1-ADFA-C9106A79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95500"/>
            <a:ext cx="1466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24ED0-0835-4C26-9E17-255C6712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1352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FastAPI Render Fisica Colisoes Placar Validacao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824D8-1D20-4289-89C3-73C00A2F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809750" cy="3143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152A"/>
          </a:solidFill>
          <a:ln xmlns:a="http://schemas.openxmlformats.org/drawingml/2006/main" w="19050">
            <a:solidFill>
              <a:srgbClr val="F472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04969-021D-4E7D-925A-EAAC9291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95500"/>
            <a:ext cx="1466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Frontend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20A28-F069-495E-AB3E-1A603B51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67000"/>
            <a:ext cx="1352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React Vercel Pong Logs MQTT Chat Chart.js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B57DB-8D2A-405F-A324-91DBC52A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9944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O backend e a unica fonte da verdade; o navegador apenas exibe e envia comandos.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86999-A430-43F2-BBE0-D030816C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Arquivo editavel do diagrama: evidencias/arquitetura-pong.drawio</a:t>
            </a:r>
          </a:p>
        </p:txBody>
      </p:sp>
    </p:spTree>
    <p:extLst>
      <p:ext uri="{BB962C8B-B14F-4D97-AF65-F5344CB8AC3E}">
        <p14:creationId xmlns:p14="http://schemas.microsoft.com/office/powerpoint/2010/main" val="951220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8A07A4-0FE3-42A9-A3AB-7D79E9F7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MQTT CORRETO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38B8C-2092-4862-ABE5-0AE1C118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QoS acompanha o custo de perder cada mensagem.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A2F84-6326-4F8E-8C86-7BDCE949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6363C-55D4-4721-B1D1-56CDD468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DF99F-E995-4637-885E-510B2BC3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0953750" cy="990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E470F-3B07-43B2-BB28-B5003FB8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9906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4E1B1-79B8-451E-8875-1B004F3F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QoS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DEE82-1D8D-41A2-AFEE-D63EBB14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1930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Movimento e estado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25EEE-2A35-4B16-BA29-381A641A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43150"/>
            <a:ext cx="533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pong/sala1/+/movimento  |  pong/sala1/estado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37EA6-6584-432C-9827-0EF6C267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3714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Alta frequencia; perder um frame e imperceptivel.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9B2DA-9A3A-4A1E-AC7D-9E0BBAE0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0953750" cy="990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E2BF1-C80C-463F-AAAC-B58F5455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9906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45138-C55D-4D6A-BB57-7765FDD5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QoS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65FC7-6251-4D7B-8C8F-8FAADC18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575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Comandos, placar, status e chat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9F3E5-D7F7-491B-B280-F45B5820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81400"/>
            <a:ext cx="533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pong/sala1/comandos  |  placar  |  status/+  |  chat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992D1-EE66-4AB7-AE93-5BF5B50F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3714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Precisam chegar; command_id impede comando duplicado.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0E0C1-2EB8-46CC-9BB7-A4167193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10953750" cy="990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472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0DC88-86C8-48D1-AC49-444A8CED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9906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F472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0D37B-965A-48E4-9E83-A0317FB6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QoS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24385-3338-4760-9554-2BF58D41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9580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Estado critico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727CC-ACFA-49B0-8612-AD97F2C5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19650"/>
            <a:ext cx="533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pong/sala1/estado_critico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0E7E2A-882A-42BE-897A-9926D89E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0100"/>
            <a:ext cx="3714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Evento raro, importante e processado exatamente uma vez.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363308-9AB5-4FC4-8DF7-660D3DE5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066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Wildcard funcional: '+' substitui exatamente um nivel do topico.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FB6BC-0383-433D-AEFE-4206BABD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Backend: pong/+/+/movimento | Frontend: pong/sala1/+/movimento</a:t>
            </a:r>
          </a:p>
        </p:txBody>
      </p:sp>
    </p:spTree>
    <p:extLst>
      <p:ext uri="{BB962C8B-B14F-4D97-AF65-F5344CB8AC3E}">
        <p14:creationId xmlns:p14="http://schemas.microsoft.com/office/powerpoint/2010/main" val="18833393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2A781-3EEE-441F-83D6-991457BE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ESP32 FISICO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A901A-B82B-40E8-90C6-04C957FD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O embarcado participa da logica, nao e apenas decoracao.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17206-41E0-47D9-B7CB-D97D0216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2A723-D6F5-4863-9838-5DA68C39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1168E-00C8-47B0-9D8F-D7B130C5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2095500" cy="1714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D81E3-3103-4F10-B4DD-9361F251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1752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1. 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CFD9F-125C-46D1-AC38-0D52AB4B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Potenciometro GPIO 34 / 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351EF-99F2-4A87-9EE3-779E66AE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14550"/>
            <a:ext cx="2095500" cy="1714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52513-A8A3-40A2-AEB9-B7FB5880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1752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2. Converter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30783-2871-4209-82C6-52B2BFFB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ADC 0-4095 → posicao 0-504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101D1-6597-4C2A-BF2A-CAD3EA1D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14550"/>
            <a:ext cx="2095500" cy="1714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A8247-1565-4B22-8174-AD778671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1752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t>3. Publicar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8CEEC-A184-4AF3-A708-79B96731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JSON { y, ts } QoS 0 a cada 50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25652-7A47-4D96-8BE9-FDEF57C4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2095500" cy="1714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472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CEA2F-BD1F-4B6F-A940-5212B4F3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1752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4. Jogar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1CBEC-3552-4F6E-AF0C-60A15BC7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Backend atualiza raquete e colisao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F2B32-AD21-4F3E-8BAA-0F85D75D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81300"/>
            <a:ext cx="5238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C1D0AF-113D-427A-A88E-8EB4EEC6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81300"/>
            <a:ext cx="5238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B021D-E529-41C5-A779-C8C6E29F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5238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C0930-B508-4C5F-A6FE-AE20D5CC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0050"/>
            <a:ext cx="10096500" cy="13525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D172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3F44B9-0FDC-4922-9F3F-C86A943A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66675" cy="666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0B9325-F586-4A88-8E3D-13E8567D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87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Botoes publicam READY/RESET e recebem confirmacoes por comandos.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5CCAD-4A26-41DD-8E23-C9DA5B48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66675" cy="666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AF9EA-1A34-42BF-8741-FD3BFAA9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887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Status online e retained; queda abrupta aciona o LWT offline.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2D5F95-38D3-4EBD-9A02-B603DF1E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66675" cy="666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119729-4D9D-4CF4-A3FD-FFF58F50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76850"/>
            <a:ext cx="887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Firmware gravado e ESP32 observado publicando movimentos reais.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90044E-AA3C-46E1-AD63-1CF9DFAD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Foto fisica final deve ser adicionada em evidencias/esp32-circuito-completo.jpg</a:t>
            </a:r>
          </a:p>
        </p:txBody>
      </p:sp>
    </p:spTree>
    <p:extLst>
      <p:ext uri="{BB962C8B-B14F-4D97-AF65-F5344CB8AC3E}">
        <p14:creationId xmlns:p14="http://schemas.microsoft.com/office/powerpoint/2010/main" val="1638142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5750B6-EC6D-41F6-A570-AFA08681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BACKEND AUTORITATIVO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5A16B-645A-4974-9CD6-8678D39D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Centralizar a fisica impede duas partidas diferentes.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008FD-3A0B-40AF-84FB-2D0C8F1C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7EB2D-4B26-4562-80EB-3AE675CA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6D5D0-C434-4D3F-895D-2AFBA33F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857500" cy="2857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A244B-36CB-4DB8-A5B1-6DD0017B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t>ENTRADAS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56348-B233-4840-8AD6-2B11DE7C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209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Movimentos ESP32 Comandos Web/ESP32 Chat MQTT REST / Swagger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B19D2-7EE7-4F3B-94C7-B91505A9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EFA93-09A3-4D65-9D9B-41339F64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3333750" cy="3238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B2110"/>
          </a:solidFill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A2759-C811-4D38-B658-8FE13BE9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280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FASTAPI + PAHO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C880D-9FB8-4329-A712-CEA3F6BE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26479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Valida payloads e jogadores Controla fases da partida Calcula bola e colisoes Atualiza placar Deduplica command_id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7540D-0C65-4702-8B16-A4B97C5A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DBE16-2ECF-4C35-9C6B-1367FF10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0250"/>
            <a:ext cx="2857500" cy="2857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C1529"/>
          </a:solidFill>
          <a:ln xmlns:a="http://schemas.openxmlformats.org/drawingml/2006/main" w="19050">
            <a:solidFill>
              <a:srgbClr val="F472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66542-5A26-414F-95C0-BC50E00B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SAIDAS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12EB7-0D36-4F5C-932C-E76AAC4F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57500"/>
            <a:ext cx="2209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Estado ~30 FPS Placar confiavel Evento critico retained Status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C6007-F6EC-4659-B53C-95912518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Tratativas rejeitam comandos aleatorios, transicoes invalidas e payloads malformados.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F274E-570E-42DD-8763-F67B19DC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Health publico: /health retorna status ok e mqtt_connected true</a:t>
            </a:r>
          </a:p>
        </p:txBody>
      </p:sp>
    </p:spTree>
    <p:extLst>
      <p:ext uri="{BB962C8B-B14F-4D97-AF65-F5344CB8AC3E}">
        <p14:creationId xmlns:p14="http://schemas.microsoft.com/office/powerpoint/2010/main" val="7339039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624E68-8C00-4137-BF30-F6C4D6EC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INTERFACE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423EF-818A-4B4B-A050-4B680F6D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A mesma tela joga, observa MQTT e publica comandos.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F3FEC-BADF-4A5D-B2DF-CC85B6D1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4D44C-AE53-4D13-B29A-C64F3E37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66A01-0AAA-4DC9-B9DD-89DCB638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7810500" cy="4305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d4049db68447c"/>
          <a:srcRect xmlns:a="http://schemas.openxmlformats.org/drawingml/2006/main" l="0" t="17463" r="0" b="17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771650"/>
            <a:ext cx="7658100" cy="4152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10648-A6E5-4221-98D0-DD0FC3E6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47850"/>
            <a:ext cx="2952750" cy="838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5E527-700A-49D3-A9F1-F4979DF9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Pong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84DFA-D6FE-4CDD-9F78-0406D981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57425"/>
            <a:ext cx="260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estado em tempo real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4B0CE-749A-4246-8F4C-CEDA73A9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952750" cy="838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56A23-AA0B-4822-9C29-978635D4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718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Comandos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A118F-73C2-4D74-8B2F-9CCC50E0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48025"/>
            <a:ext cx="260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iniciar, pausar, retomar e sair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E1C70-9C04-493D-986B-29FB60F0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952750" cy="838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78D53-6623-4894-AAEE-CBBA94B8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624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Observabilidade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F45B1-B373-4355-9903-0CCDAE20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38625"/>
            <a:ext cx="260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logs MQTT, status e graficos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9A030-F188-4167-BA40-AE8A6050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19650"/>
            <a:ext cx="2952750" cy="838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472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51FC4-963C-434C-8F54-FE92CF1F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530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Interacao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E0926-1948-4C9E-BB26-53080AD3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29225"/>
            <a:ext cx="260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chat e controle fisico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BEF45-6A21-4B5F-9C5A-E8C67A46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Aplicacao: https://pong-front.vercel.app/</a:t>
            </a:r>
          </a:p>
        </p:txBody>
      </p:sp>
    </p:spTree>
    <p:extLst>
      <p:ext uri="{BB962C8B-B14F-4D97-AF65-F5344CB8AC3E}">
        <p14:creationId xmlns:p14="http://schemas.microsoft.com/office/powerpoint/2010/main" val="638209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846BC4-BF5D-4271-9BCA-1E8986E7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RECURSOS AVANCADOS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1D772-5174-4AF4-9021-6B95678C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LWT e retained tornam o status confiavel mesmo sem publicacoes novas.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0C5FD-1968-4E0A-8417-A0420232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0AC82-811C-4DBE-A9FF-48AE2EB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BE6F8-1D31-4239-BA72-52AF5685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t>LWT: queda inesperada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57765-9C9A-4227-A8F9-001A2139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2857500" cy="1257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098F1-022A-489A-AA79-8538C44D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47FF4-D908-4151-93C0-59B234C6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52700"/>
            <a:ext cx="1924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ESP32 conecta e registra testamento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5017A-880F-44B7-89DB-759D29F1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2857500" cy="1257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F675D-87D2-49F9-8D0E-E9AE4967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4D23D-4F6C-40A1-9A20-567E736B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52700"/>
            <a:ext cx="1924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ESP32 perde energia sem DISCONNECT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2E4DD-4372-4FFB-A354-DD3A71D1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62200"/>
            <a:ext cx="2857500" cy="1257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B71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79D31-61D4-421C-B6C5-71F79CBB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CB5C0-C6C0-4EF3-A2A9-08B654BB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52700"/>
            <a:ext cx="1924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HiveMQ publica offline automaticamente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F059F-0E1A-4561-B921-F63DA900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041AE-A633-4713-BE62-C36C4FB7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A324D-39C8-4A7D-AB54-DE9D2246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857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Retained: novo cliente recebe o ultimo status imediatamente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96CB4-0C21-44E4-A7E2-6279D29C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0572750" cy="952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BD057-40DE-4C55-9670-38D44CFD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077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status/esp32 = online  →  HiveMQ armazena  →  segunda aba recebe online ao assinar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4FA69-B1EE-4CD3-B53E-3E55E7B6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Demonstracao: desligar o ESP32 para LWT; abrir nova aba para retained</a:t>
            </a:r>
          </a:p>
        </p:txBody>
      </p:sp>
    </p:spTree>
    <p:extLst>
      <p:ext uri="{BB962C8B-B14F-4D97-AF65-F5344CB8AC3E}">
        <p14:creationId xmlns:p14="http://schemas.microsoft.com/office/powerpoint/2010/main" val="9907638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FC5037-CF80-469E-8134-02DED5E2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EVIDENCIAS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82364-A275-43F5-BD57-078BF848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Deploy e broker ja deixam rastros verificaveis.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562A7-12AF-42E4-8FE5-ED8662D6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6069B-27CB-44F3-89E1-4B940C60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16934-AA7C-4590-A452-97E05E17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5238750" cy="1809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E5518-CDD0-4E8D-955D-9D809CBB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857750" cy="952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7140F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B99B6-0B20-479F-9465-9E8B93D3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4362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{ "status": "ok", "mqtt_connected": true 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B833E-A8F9-4AA7-87E3-7CA7EF20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Render: status ok + mqtt_connected true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D48DB-DA86-4DF1-A02F-3FC15014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71650"/>
            <a:ext cx="5524500" cy="1809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4553903974e1e"/>
          <a:stretch xmlns:a="http://schemas.openxmlformats.org/drawingml/2006/main"/>
        </p:blipFill>
        <p:spPr>
          <a:xfrm xmlns:a="http://schemas.openxmlformats.org/drawingml/2006/main">
            <a:off x="7398355" y="1885950"/>
            <a:ext cx="2767390" cy="1219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DB6A6-7371-488E-90EB-DD014C8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518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t>HiveMQ: status de backend e ESP32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2A93C-3ACB-45FE-83F3-BA2B566A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7239000" cy="2095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27be4fd5c485e"/>
          <a:srcRect xmlns:a="http://schemas.openxmlformats.org/drawingml/2006/main" l="0" t="38203" r="0" b="382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3943350"/>
            <a:ext cx="7010400" cy="1562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1BDCF-45F8-4F4F-B875-86797389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Web Client: topicos, wildcards e mensagens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0D3D7-E37E-4D96-8778-A6A4B8FD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3524250" cy="2095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1E0D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F725D-B29D-434A-BF81-F8546530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67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FALTAM AS FOTOS FINAIS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E3846-CB3A-4C73-92AB-1FB9ADE8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91050"/>
            <a:ext cx="285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• circuito ESP32 • MQTT Explorer • Mosquitto CLI • LWT offline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99C1F-7622-402C-B318-CD68AF91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Pasta organizada: evidencias/</a:t>
            </a:r>
          </a:p>
        </p:txBody>
      </p:sp>
    </p:spTree>
    <p:extLst>
      <p:ext uri="{BB962C8B-B14F-4D97-AF65-F5344CB8AC3E}">
        <p14:creationId xmlns:p14="http://schemas.microsoft.com/office/powerpoint/2010/main" val="19550220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14281C-6D86-401D-B8EC-5911AC55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RUBRICA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0CBB8-C039-461B-B2D8-C75F5E07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Os pontos obrigatorios estao implementados; a prioridade agora e provar.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B40EB-C2D3-49C6-82F9-EF135E3D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177C3-4E89-4355-BBB8-C7762687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FAB15-AE4E-4771-AA56-34A579F0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5375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EB3DE-B07D-4C4C-A7FF-12E5407B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MQTT correto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9ACFA-6DB6-4691-810C-B1E12BE2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240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2,0 / 2,0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6476B-E3CF-4D8A-B96D-1948F2B3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2405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topicos + wildcard + QoS + LWT + retained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FD021-3623-46F9-BFF9-5FD7AB50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5375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B909B-F0C3-49E8-AC2F-CBB9D6B2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ESP32 integrado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37DDF-1AE6-4AE3-97FD-202E37AA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6700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1,5 / 1,5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9DD61-6F13-4736-9C26-373C4D09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670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publica movimento e assina comandos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23174-0745-452D-97BB-48CC2457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5375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472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66CBF-C24B-46C6-B561-AEB1F9B2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Interface web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9E031-453A-411C-B4D8-98E31F90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2,0 / 2,0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1491D-F9EC-4B8A-94CB-5A278A58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0995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tempo real + comandos + jogo + logs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CF3C9-FD52-464C-BEE4-A5ABE1DA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5375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32ED9-8520-4C05-B4AF-6892B295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Broker + testes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3A114-B9F6-4866-B2FE-C0233597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5290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em fechamento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786B3-6F7E-473A-B7E9-3C5A5F5A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529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faltam MQTT Explorer e Mosquitto CLI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C5E48-B0A6-42E2-9D1D-A517E662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5375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90A8E-CCF7-444B-AA61-B8EB1845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Deploy + repositorio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F1718-83A2-4F6F-9AC2-80F7DCC1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958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t>2,0 / 2,0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F2CB5-256A-4D4B-9439-8B96840D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9585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links publicos + README + diagrama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477EA0-4AEC-4539-813F-1FFAA723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5375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879D3-D6F4-4E2A-9731-47682443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Extra autenticacao/TLS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B3470-0F13-4C31-BEB4-CF90766A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3880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+0,5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CDE284-2703-4E7C-AA61-50BE55D5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6388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usuarios separados + 8883/8884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AAC54-F2B7-446E-812D-D273EFCB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Banco de dados e extra opcional; nao foi implementado.</a:t>
            </a:r>
          </a:p>
        </p:txBody>
      </p:sp>
    </p:spTree>
    <p:extLst>
      <p:ext uri="{BB962C8B-B14F-4D97-AF65-F5344CB8AC3E}">
        <p14:creationId xmlns:p14="http://schemas.microsoft.com/office/powerpoint/2010/main" val="2158739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D97A8-EE5E-4002-8D7D-CBC53477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DEMONSTRACAO AO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4DDAE-C488-4558-BEE8-93ED23D7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Uma sequencia curta prova o sistema inteiro sem improviso.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EC6E3-55B2-4392-B870-1496483B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9E189-4E63-4ABE-96B8-8D0B685F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AA3A5-4FCD-4CB2-9186-E07F5755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962150" cy="2381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35012-9042-437C-822C-2ED5AC6A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3BFEB-D598-45CF-B8A9-32011B4C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Abrir /health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C4F0D-1CE2-4F7D-AA96-DF50A6D3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mqtt_connected true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9CB20-0FD1-40CE-B69D-3312C2E9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1962150" cy="2381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AF4F8-F344-4605-BBE3-45CA595E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288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2ABBE-791B-4B81-9653-A4A0ADE4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765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Abrir Vercel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5F23C-5842-4BBB-A290-EE2AFDE5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623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HiveMQ + ESP32 online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0941B-D895-4B9F-A692-5B641DE6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1962150" cy="2381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472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18914-240B-4793-B554-03A6B79F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288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A565E-8E44-48D9-B43A-ADF00F63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765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Girar potenciometro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89E0C-F568-429C-87DA-83E4BBB0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623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raquete + log + grafico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6B93D-D0F7-41AD-8C7F-79225F35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38350"/>
            <a:ext cx="1962150" cy="2381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0E9D9-7F72-4CA8-B82C-6BAF87D5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5070B-A3B2-4722-9883-48FF424D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765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Iniciar / pausar / sair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5FB04-DA81-45B6-B8B4-07438AD7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623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comandos e estado critico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3D3BA-67A5-4FDC-9EB8-45519025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38350"/>
            <a:ext cx="1962150" cy="2381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B718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E8256-0323-402B-BE6D-D6E96723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288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95A31D-BC0B-4443-B1F2-7026511C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765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Desligar ESP32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880A1-CB17-4898-BE0C-63A7B551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623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LWT publica offline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DAC56-72BA-425A-85BC-A052DBB4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1055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Perguntas provaveis: por que QoS 0? por que backend autoritativo? como LWT difere de retained?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FE39DA-3142-4CCB-9201-8530AC24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24500"/>
            <a:ext cx="9791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Resposta-chave: cada decisao reduz latencia, evita divergencia ou melhora confiabilidade.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8568D-8F0B-412E-A24D-5B91AB0B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Antes de apresentar: preencher integrantes, adicionar fotos fisicas e capturas Mosquitto/MQTT Explorer.</a:t>
            </a:r>
          </a:p>
        </p:txBody>
      </p:sp>
    </p:spTree>
    <p:extLst>
      <p:ext uri="{BB962C8B-B14F-4D97-AF65-F5344CB8AC3E}">
        <p14:creationId xmlns:p14="http://schemas.microsoft.com/office/powerpoint/2010/main" val="591216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2026-06-14T21:34:21.6320000Z</dcterms:created>
  <dcterms:modified xsi:type="dcterms:W3CDTF">2026-06-14T21:34:21.6320000Z</dcterms:modified>
</coreProperties>
</file>